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828800" y="1097280"/>
            <a:ext cx="85340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300" b="1">
                <a:solidFill>
                  <a:srgbClr val="F59E0B"/>
                </a:solidFill>
                <a:latin typeface="Calibri"/>
              </a:defRPr>
            </a:pPr>
            <a:r>
              <a:t>مثال عملي - أدوات الذكاء الاصطناعي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28800" y="1828800"/>
            <a:ext cx="853409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5200" b="1">
                <a:solidFill>
                  <a:srgbClr val="F59E0B"/>
                </a:solidFill>
                <a:latin typeface="Calibri"/>
              </a:defRPr>
            </a:pPr>
            <a:r>
              <a:t>الخلية الحية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3017520"/>
            <a:ext cx="853409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600" b="0">
                <a:solidFill>
                  <a:srgbClr val="9CA3AF"/>
                </a:solidFill>
                <a:latin typeface="Calibri"/>
              </a:defRPr>
            </a:pPr>
            <a:r>
              <a:t>تركيب الخلية ومكوناتها ووظائفها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3840480"/>
            <a:ext cx="85340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600" b="0">
                <a:solidFill>
                  <a:srgbClr val="D1D5DB"/>
                </a:solidFill>
                <a:latin typeface="Calibri"/>
              </a:defRPr>
            </a:pPr>
            <a:r>
              <a:t>علوم - الصف السابع | المنهج السوري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475488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800" b="1">
                <a:solidFill>
                  <a:srgbClr val="F59E0B"/>
                </a:solidFill>
                <a:latin typeface="Calibri"/>
              </a:defRPr>
            </a:pPr>
            <a:r>
              <a:t>5 دقائق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0" y="521208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9CA3AF"/>
                </a:solidFill>
                <a:latin typeface="Calibri"/>
              </a:defRPr>
            </a:pPr>
            <a:r>
              <a:t>وقت التحضير بالذكاء الاصطناعي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0" y="475488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800" b="1">
                <a:solidFill>
                  <a:srgbClr val="22C55E"/>
                </a:solidFill>
                <a:latin typeface="Calibri"/>
              </a:defRPr>
            </a:pPr>
            <a:r>
              <a:t>100%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0" y="521208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9CA3AF"/>
                </a:solidFill>
                <a:latin typeface="Calibri"/>
              </a:defRPr>
            </a:pPr>
            <a:r>
              <a:t>من الكتاب المدرسي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0" y="475488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800" b="1">
                <a:solidFill>
                  <a:srgbClr val="8B5CF6"/>
                </a:solidFill>
                <a:latin typeface="Calibri"/>
              </a:defRPr>
            </a:pPr>
            <a:r>
              <a:t>PDF جاهز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0" y="521208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9CA3AF"/>
                </a:solidFill>
                <a:latin typeface="Calibri"/>
              </a:defRPr>
            </a:pPr>
            <a:r>
              <a:t>جاهز للطباعة والتوزيع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28800" y="5669280"/>
            <a:ext cx="85340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300" b="0">
                <a:solidFill>
                  <a:srgbClr val="9CA3AF"/>
                </a:solidFill>
                <a:latin typeface="Calibri"/>
              </a:defRPr>
            </a:pPr>
            <a:r>
              <a:t>هاد مثال حقيقي لدرس علوم تم إعداده بالكامل باستخدام أداتي الذكاء الاصطناعي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6126480"/>
            <a:ext cx="11277295" cy="12700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621792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9CA3AF"/>
                </a:solidFill>
                <a:latin typeface="Calibri"/>
              </a:defRPr>
            </a:pPr>
            <a:r>
              <a:t>نواف البوسطه | كورس الذكاء الاصطناعي بالتعليم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0" y="621792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CA3AF"/>
                </a:solidFill>
                <a:latin typeface="Calibri"/>
              </a:defRPr>
            </a:pPr>
            <a:r>
              <a:t>كل المحتوى من الكتاب المدرسي وموثق بأرقام الصفحات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515600" y="27432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CA3AF"/>
                </a:solidFill>
                <a:latin typeface="Calibri"/>
              </a:defRPr>
            </a:pPr>
            <a:r>
              <a:t>1 / 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300" b="1">
                <a:solidFill>
                  <a:srgbClr val="F59E0B"/>
                </a:solidFill>
                <a:latin typeface="Calibri"/>
              </a:defRPr>
            </a:pPr>
            <a:r>
              <a:t>مثال عملي - أدوات الذكاء الاصطناعي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2296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3000" b="1">
                <a:solidFill>
                  <a:srgbClr val="F59E0B"/>
                </a:solidFill>
                <a:latin typeface="Calibri"/>
              </a:defRPr>
            </a:pPr>
            <a:r>
              <a:t>تركيب الخلية ومكوناتها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600" b="0">
                <a:solidFill>
                  <a:srgbClr val="9CA3AF"/>
                </a:solidFill>
                <a:latin typeface="Calibri"/>
              </a:defRPr>
            </a:pPr>
            <a:r>
              <a:t>الكتاب المدرسي - صفحة 42-45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011680"/>
            <a:ext cx="5029200" cy="1097280"/>
          </a:xfrm>
          <a:prstGeom prst="round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21031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700" b="1">
                <a:solidFill>
                  <a:srgbClr val="F59E0B"/>
                </a:solidFill>
                <a:latin typeface="Calibri"/>
              </a:defRPr>
            </a:pPr>
            <a:r>
              <a:t>الغشاء الخلوي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468880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0">
                <a:solidFill>
                  <a:srgbClr val="D1D5DB"/>
                </a:solidFill>
                <a:latin typeface="Calibri"/>
              </a:defRPr>
            </a:pPr>
            <a:r>
              <a:t>الغشاء الخارجي اللي بيحيط بالخلية وبيتحكم بالمواد اللي بتدخل وتطلع - يشبه حارس البوابة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3291840"/>
            <a:ext cx="5029200" cy="1097280"/>
          </a:xfrm>
          <a:prstGeom prst="round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33832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700" b="1">
                <a:solidFill>
                  <a:srgbClr val="22C55E"/>
                </a:solidFill>
                <a:latin typeface="Calibri"/>
              </a:defRPr>
            </a:pPr>
            <a:r>
              <a:t>السيتوبلازم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749039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0">
                <a:solidFill>
                  <a:srgbClr val="D1D5DB"/>
                </a:solidFill>
                <a:latin typeface="Calibri"/>
              </a:defRPr>
            </a:pPr>
            <a:r>
              <a:t>المادة الهلامية اللي بتملا الخلية وفيها العضيات - مثل السائل اللي بتحيا فيه المكونات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572000"/>
            <a:ext cx="5029200" cy="1097280"/>
          </a:xfrm>
          <a:prstGeom prst="round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46634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700" b="1">
                <a:solidFill>
                  <a:srgbClr val="8B5CF6"/>
                </a:solidFill>
                <a:latin typeface="Calibri"/>
              </a:defRPr>
            </a:pPr>
            <a:r>
              <a:t>النواة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5029200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0">
                <a:solidFill>
                  <a:srgbClr val="D1D5DB"/>
                </a:solidFill>
                <a:latin typeface="Calibri"/>
              </a:defRPr>
            </a:pPr>
            <a:r>
              <a:t>مركز القيادة! فيها الحمض النووي DNA اللي بيحدد صفات الخلية وبيتحكم بنشاطاتها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943600" y="2011680"/>
            <a:ext cx="5760720" cy="3657600"/>
          </a:xfrm>
          <a:prstGeom prst="round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0" y="228600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رسم توضيحي لتركيب الخلية</a:t>
            </a:r>
          </a:p>
        </p:txBody>
      </p:sp>
      <p:sp>
        <p:nvSpPr>
          <p:cNvPr id="16" name="Oval 15"/>
          <p:cNvSpPr/>
          <p:nvPr/>
        </p:nvSpPr>
        <p:spPr>
          <a:xfrm>
            <a:off x="7315200" y="2743200"/>
            <a:ext cx="3017520" cy="3017520"/>
          </a:xfrm>
          <a:prstGeom prst="ellipse">
            <a:avLst/>
          </a:prstGeom>
          <a:noFill/>
          <a:ln w="381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7680960" y="3108960"/>
            <a:ext cx="2286000" cy="2286000"/>
          </a:xfrm>
          <a:prstGeom prst="ellipse">
            <a:avLst/>
          </a:prstGeom>
          <a:noFill/>
          <a:ln w="25400">
            <a:solidFill>
              <a:srgbClr val="22C55E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321040" y="3749039"/>
            <a:ext cx="1005840" cy="1005840"/>
          </a:xfrm>
          <a:prstGeom prst="ellipse">
            <a:avLst/>
          </a:prstGeom>
          <a:solidFill>
            <a:srgbClr val="2A1A4A"/>
          </a:solidFill>
          <a:ln w="3810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406640" y="246888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59E0B"/>
                </a:solidFill>
                <a:latin typeface="Calibri"/>
              </a:defRPr>
            </a:pPr>
            <a:r>
              <a:t>الغشاء الخلوي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0" y="292608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22C55E"/>
                </a:solidFill>
                <a:latin typeface="Calibri"/>
              </a:defRPr>
            </a:pPr>
            <a:r>
              <a:t>السيتوبلازم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12480" y="402336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8B5CF6"/>
                </a:solidFill>
                <a:latin typeface="Calibri"/>
              </a:defRPr>
            </a:pPr>
            <a:r>
              <a:t>النواة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6126480"/>
            <a:ext cx="11277295" cy="12700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7200" y="621792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9CA3AF"/>
                </a:solidFill>
                <a:latin typeface="Calibri"/>
              </a:defRPr>
            </a:pPr>
            <a:r>
              <a:t>نواف البوسطه | كورس الذكاء الاصطناعي بالتعليم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43600" y="621792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CA3AF"/>
                </a:solidFill>
                <a:latin typeface="Calibri"/>
              </a:defRPr>
            </a:pPr>
            <a:r>
              <a:t>كل المحتوى من الكتاب المدرسي وموثق بأرقام الصفحات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515600" y="27432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CA3AF"/>
                </a:solidFill>
                <a:latin typeface="Calibri"/>
              </a:defRPr>
            </a:pPr>
            <a:r>
              <a:t>2 / 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300" b="1">
                <a:solidFill>
                  <a:srgbClr val="F59E0B"/>
                </a:solidFill>
                <a:latin typeface="Calibri"/>
              </a:defRPr>
            </a:pPr>
            <a:r>
              <a:t>مثال عملي - أدوات الذكاء الاصطناعي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229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3000" b="1">
                <a:solidFill>
                  <a:srgbClr val="F59E0B"/>
                </a:solidFill>
                <a:latin typeface="Calibri"/>
              </a:defRPr>
            </a:pPr>
            <a:r>
              <a:t>مقارنة: الخلية النباتية vs الخلية الحيوانية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600" b="0">
                <a:solidFill>
                  <a:srgbClr val="9CA3AF"/>
                </a:solidFill>
                <a:latin typeface="Calibri"/>
              </a:defRPr>
            </a:pPr>
            <a:r>
              <a:t>الكتاب المدرسي - صفحة 48-50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920240"/>
          <a:ext cx="1127638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4266590"/>
                <a:gridCol w="4266590"/>
              </a:tblGrid>
              <a:tr h="522514">
                <a:tc>
                  <a:txBody>
                    <a:bodyPr/>
                    <a:lstStyle/>
                    <a:p>
                      <a:pPr algn="ctr">
                        <a:defRPr sz="1500" b="1">
                          <a:solidFill>
                            <a:srgbClr val="F59E0B"/>
                          </a:solidFill>
                        </a:defRPr>
                      </a:pPr>
                      <a:r>
                        <a:t>المميزة</a:t>
                      </a:r>
                    </a:p>
                  </a:txBody>
                  <a:tcPr>
                    <a:solidFill>
                      <a:srgbClr val="1A150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1">
                          <a:solidFill>
                            <a:srgbClr val="F59E0B"/>
                          </a:solidFill>
                        </a:defRPr>
                      </a:pPr>
                      <a:r>
                        <a:t>الخلية النباتية</a:t>
                      </a:r>
                    </a:p>
                  </a:txBody>
                  <a:tcPr>
                    <a:solidFill>
                      <a:srgbClr val="1A150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1">
                          <a:solidFill>
                            <a:srgbClr val="F59E0B"/>
                          </a:solidFill>
                        </a:defRPr>
                      </a:pPr>
                      <a:r>
                        <a:t>الخلية الحيوانية</a:t>
                      </a:r>
                    </a:p>
                  </a:txBody>
                  <a:tcPr>
                    <a:solidFill>
                      <a:srgbClr val="1A150A"/>
                    </a:solidFill>
                  </a:tcPr>
                </a:tc>
              </a:tr>
              <a:tr h="522514">
                <a:tc>
                  <a:txBody>
                    <a:bodyPr/>
                    <a:lstStyle/>
                    <a:p>
                      <a:pPr algn="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الشكل</a:t>
                      </a:r>
                    </a:p>
                  </a:txBody>
                  <a:tcPr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0">
                          <a:solidFill>
                            <a:srgbClr val="D1D5DB"/>
                          </a:solidFill>
                        </a:defRPr>
                      </a:pPr>
                      <a:r>
                        <a:t>مستطيلة الشكل</a:t>
                      </a:r>
                    </a:p>
                  </a:txBody>
                  <a:tcPr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0">
                          <a:solidFill>
                            <a:srgbClr val="D1D5DB"/>
                          </a:solidFill>
                        </a:defRPr>
                      </a:pPr>
                      <a:r>
                        <a:t>دائرية أو غير منتظمة</a:t>
                      </a:r>
                    </a:p>
                  </a:txBody>
                  <a:tcPr>
                    <a:solidFill>
                      <a:srgbClr val="1A1A1A"/>
                    </a:solidFill>
                  </a:tcPr>
                </a:tc>
              </a:tr>
              <a:tr h="522514">
                <a:tc>
                  <a:txBody>
                    <a:bodyPr/>
                    <a:lstStyle/>
                    <a:p>
                      <a:pPr algn="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الجدار الخلوي</a:t>
                      </a:r>
                    </a:p>
                  </a:txBody>
                  <a:tcPr>
                    <a:solidFill>
                      <a:srgbClr val="0A0A0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0">
                          <a:solidFill>
                            <a:srgbClr val="D1D5DB"/>
                          </a:solidFill>
                        </a:defRPr>
                      </a:pPr>
                      <a:r>
                        <a:t>موجود</a:t>
                      </a:r>
                    </a:p>
                  </a:txBody>
                  <a:tcPr>
                    <a:solidFill>
                      <a:srgbClr val="0A0A0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0">
                          <a:solidFill>
                            <a:srgbClr val="D1D5DB"/>
                          </a:solidFill>
                        </a:defRPr>
                      </a:pPr>
                      <a:r>
                        <a:t>غير موجود</a:t>
                      </a:r>
                    </a:p>
                  </a:txBody>
                  <a:tcPr>
                    <a:solidFill>
                      <a:srgbClr val="0A0A0A"/>
                    </a:solidFill>
                  </a:tcPr>
                </a:tc>
              </a:tr>
              <a:tr h="522514">
                <a:tc>
                  <a:txBody>
                    <a:bodyPr/>
                    <a:lstStyle/>
                    <a:p>
                      <a:pPr algn="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البلاستيدات الخضراء</a:t>
                      </a:r>
                    </a:p>
                  </a:txBody>
                  <a:tcPr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0">
                          <a:solidFill>
                            <a:srgbClr val="D1D5DB"/>
                          </a:solidFill>
                        </a:defRPr>
                      </a:pPr>
                      <a:r>
                        <a:t>موجودة (للتركيب الضوئي)</a:t>
                      </a:r>
                    </a:p>
                  </a:txBody>
                  <a:tcPr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0">
                          <a:solidFill>
                            <a:srgbClr val="D1D5DB"/>
                          </a:solidFill>
                        </a:defRPr>
                      </a:pPr>
                      <a:r>
                        <a:t>غير موجودة</a:t>
                      </a:r>
                    </a:p>
                  </a:txBody>
                  <a:tcPr>
                    <a:solidFill>
                      <a:srgbClr val="1A1A1A"/>
                    </a:solidFill>
                  </a:tcPr>
                </a:tc>
              </a:tr>
              <a:tr h="522514">
                <a:tc>
                  <a:txBody>
                    <a:bodyPr/>
                    <a:lstStyle/>
                    <a:p>
                      <a:pPr algn="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الفجوة العصارية</a:t>
                      </a:r>
                    </a:p>
                  </a:txBody>
                  <a:tcPr>
                    <a:solidFill>
                      <a:srgbClr val="0A0A0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0">
                          <a:solidFill>
                            <a:srgbClr val="D1D5DB"/>
                          </a:solidFill>
                        </a:defRPr>
                      </a:pPr>
                      <a:r>
                        <a:t>كبيرة ومركزية</a:t>
                      </a:r>
                    </a:p>
                  </a:txBody>
                  <a:tcPr>
                    <a:solidFill>
                      <a:srgbClr val="0A0A0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0">
                          <a:solidFill>
                            <a:srgbClr val="D1D5DB"/>
                          </a:solidFill>
                        </a:defRPr>
                      </a:pPr>
                      <a:r>
                        <a:t>صغيرة ومتعددة</a:t>
                      </a:r>
                    </a:p>
                  </a:txBody>
                  <a:tcPr>
                    <a:solidFill>
                      <a:srgbClr val="0A0A0A"/>
                    </a:solidFill>
                  </a:tcPr>
                </a:tc>
              </a:tr>
              <a:tr h="522514">
                <a:tc>
                  <a:txBody>
                    <a:bodyPr/>
                    <a:lstStyle/>
                    <a:p>
                      <a:pPr algn="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النواة</a:t>
                      </a:r>
                    </a:p>
                  </a:txBody>
                  <a:tcPr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0">
                          <a:solidFill>
                            <a:srgbClr val="D1D5DB"/>
                          </a:solidFill>
                        </a:defRPr>
                      </a:pPr>
                      <a:r>
                        <a:t>موجودة</a:t>
                      </a:r>
                    </a:p>
                  </a:txBody>
                  <a:tcPr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0">
                          <a:solidFill>
                            <a:srgbClr val="D1D5DB"/>
                          </a:solidFill>
                        </a:defRPr>
                      </a:pPr>
                      <a:r>
                        <a:t>موجودة</a:t>
                      </a:r>
                    </a:p>
                  </a:txBody>
                  <a:tcPr>
                    <a:solidFill>
                      <a:srgbClr val="1A1A1A"/>
                    </a:solidFill>
                  </a:tcPr>
                </a:tc>
              </a:tr>
              <a:tr h="522516">
                <a:tc>
                  <a:txBody>
                    <a:bodyPr/>
                    <a:lstStyle/>
                    <a:p>
                      <a:pPr algn="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الغشاء الخلوي</a:t>
                      </a:r>
                    </a:p>
                  </a:txBody>
                  <a:tcPr>
                    <a:solidFill>
                      <a:srgbClr val="0A0A0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0">
                          <a:solidFill>
                            <a:srgbClr val="D1D5DB"/>
                          </a:solidFill>
                        </a:defRPr>
                      </a:pPr>
                      <a:r>
                        <a:t>موجود (تحت الجدار)</a:t>
                      </a:r>
                    </a:p>
                  </a:txBody>
                  <a:tcPr>
                    <a:solidFill>
                      <a:srgbClr val="0A0A0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0">
                          <a:solidFill>
                            <a:srgbClr val="D1D5DB"/>
                          </a:solidFill>
                        </a:defRPr>
                      </a:pPr>
                      <a:r>
                        <a:t>موجود (الحدود الخارجية)</a:t>
                      </a:r>
                    </a:p>
                  </a:txBody>
                  <a:tcPr>
                    <a:solidFill>
                      <a:srgbClr val="0A0A0A"/>
                    </a:solidFill>
                  </a:tcPr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457200" y="5669280"/>
            <a:ext cx="11277295" cy="548640"/>
          </a:xfrm>
          <a:prstGeom prst="round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571500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0">
                <a:solidFill>
                  <a:srgbClr val="D1D5DB"/>
                </a:solidFill>
                <a:latin typeface="Calibri"/>
              </a:defRPr>
            </a:pPr>
            <a:r>
              <a:t>نقطة مهمة: الخلية النباتية بتعمل تركيب ضوئي بسبب البلاستيدات الخضراء - شي الخلية الحيوانية ما بتعملو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6126480"/>
            <a:ext cx="11277295" cy="12700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621792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9CA3AF"/>
                </a:solidFill>
                <a:latin typeface="Calibri"/>
              </a:defRPr>
            </a:pPr>
            <a:r>
              <a:t>نواف البوسطه | كورس الذكاء الاصطناعي بالتعليم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0" y="621792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CA3AF"/>
                </a:solidFill>
                <a:latin typeface="Calibri"/>
              </a:defRPr>
            </a:pPr>
            <a:r>
              <a:t>كل المحتوى من الكتاب المدرسي وموثق بأرقام الصفحات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0" y="27432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CA3AF"/>
                </a:solidFill>
                <a:latin typeface="Calibri"/>
              </a:defRPr>
            </a:pPr>
            <a:r>
              <a:t>3 / 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300" b="1">
                <a:solidFill>
                  <a:srgbClr val="F59E0B"/>
                </a:solidFill>
                <a:latin typeface="Calibri"/>
              </a:defRPr>
            </a:pPr>
            <a:r>
              <a:t>مثال عملي - أدوات الذكاء الاصطناعي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2296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3000" b="1">
                <a:solidFill>
                  <a:srgbClr val="F59E0B"/>
                </a:solidFill>
                <a:latin typeface="Calibri"/>
              </a:defRPr>
            </a:pPr>
            <a:r>
              <a:t>ملخص الدرس - النقاط الأساسية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600" b="0">
                <a:solidFill>
                  <a:srgbClr val="9CA3AF"/>
                </a:solidFill>
                <a:latin typeface="Calibri"/>
              </a:defRPr>
            </a:pPr>
            <a:r>
              <a:t>ملخص جاهز للتوزيع على الطلاب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920240"/>
            <a:ext cx="5486400" cy="822960"/>
          </a:xfrm>
          <a:prstGeom prst="round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40080" y="2057400"/>
            <a:ext cx="457200" cy="457200"/>
          </a:xfrm>
          <a:prstGeom prst="ellipse">
            <a:avLst/>
          </a:prstGeom>
          <a:solidFill>
            <a:srgbClr val="1A1A1A"/>
          </a:solidFill>
          <a:ln w="254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59E0B"/>
                </a:solidFill>
              </a:defRPr>
            </a:pPr>
            <a: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80160" y="1965960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500" b="1">
                <a:solidFill>
                  <a:srgbClr val="FFFFFF"/>
                </a:solidFill>
                <a:latin typeface="Calibri"/>
              </a:defRPr>
            </a:pPr>
            <a:r>
              <a:t>الخلية هي وحدة بناء الكائن الحي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80160" y="2331720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9CA3AF"/>
                </a:solidFill>
                <a:latin typeface="Calibri"/>
              </a:defRPr>
            </a:pPr>
            <a:r>
              <a:t>كل الكائنات الحية مكونة من خلايا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2926080"/>
            <a:ext cx="5486400" cy="822960"/>
          </a:xfrm>
          <a:prstGeom prst="round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640080" y="3063240"/>
            <a:ext cx="457200" cy="457200"/>
          </a:xfrm>
          <a:prstGeom prst="ellipse">
            <a:avLst/>
          </a:prstGeom>
          <a:solidFill>
            <a:srgbClr val="1A1A1A"/>
          </a:solidFill>
          <a:ln w="2540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22C55E"/>
                </a:solidFill>
              </a:defRPr>
            </a:pPr>
            <a: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80160" y="2971800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500" b="1">
                <a:solidFill>
                  <a:srgbClr val="FFFFFF"/>
                </a:solidFill>
                <a:latin typeface="Calibri"/>
              </a:defRPr>
            </a:pPr>
            <a:r>
              <a:t>كل خلية فيها غشاء وسيتوبلازم ونواة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80160" y="3337560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9CA3AF"/>
                </a:solidFill>
                <a:latin typeface="Calibri"/>
              </a:defRPr>
            </a:pPr>
            <a:r>
              <a:t>هاد التركيب الأساسي المشترك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3931920"/>
            <a:ext cx="5486400" cy="822960"/>
          </a:xfrm>
          <a:prstGeom prst="round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0080" y="4069080"/>
            <a:ext cx="457200" cy="457200"/>
          </a:xfrm>
          <a:prstGeom prst="ellipse">
            <a:avLst/>
          </a:prstGeom>
          <a:solidFill>
            <a:srgbClr val="1A1A1A"/>
          </a:solidFill>
          <a:ln w="2540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8B5CF6"/>
                </a:solidFill>
              </a:defRPr>
            </a:pPr>
            <a: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80160" y="3977640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500" b="1">
                <a:solidFill>
                  <a:srgbClr val="FFFFFF"/>
                </a:solidFill>
                <a:latin typeface="Calibri"/>
              </a:defRPr>
            </a:pPr>
            <a:r>
              <a:t>الخلية النباتية عندها مكونات إضافية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80160" y="4343400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9CA3AF"/>
                </a:solidFill>
                <a:latin typeface="Calibri"/>
              </a:defRPr>
            </a:pPr>
            <a:r>
              <a:t>جدار خلوي + بلاستيدات + فجوة كبيرة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4937760"/>
            <a:ext cx="5486400" cy="822960"/>
          </a:xfrm>
          <a:prstGeom prst="round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40080" y="5074920"/>
            <a:ext cx="457200" cy="457200"/>
          </a:xfrm>
          <a:prstGeom prst="ellipse">
            <a:avLst/>
          </a:prstGeom>
          <a:solidFill>
            <a:srgbClr val="1A1A1A"/>
          </a:solidFill>
          <a:ln w="2540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EF4444"/>
                </a:solidFill>
              </a:defRPr>
            </a:pPr>
            <a: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80160" y="4983480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500" b="1">
                <a:solidFill>
                  <a:srgbClr val="FFFFFF"/>
                </a:solidFill>
                <a:latin typeface="Calibri"/>
              </a:defRPr>
            </a:pPr>
            <a:r>
              <a:t>النواة هي مركز القيادة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80160" y="5349240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9CA3AF"/>
                </a:solidFill>
                <a:latin typeface="Calibri"/>
              </a:defRPr>
            </a:pPr>
            <a:r>
              <a:t>فيها DNA اللي بيحدد كل صفات الخلية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0" y="1920240"/>
            <a:ext cx="5303520" cy="2286000"/>
          </a:xfrm>
          <a:prstGeom prst="round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83680" y="201168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800" b="1">
                <a:solidFill>
                  <a:srgbClr val="F59E0B"/>
                </a:solidFill>
                <a:latin typeface="Calibri"/>
              </a:defRPr>
            </a:pPr>
            <a:r>
              <a:t>أهداف الدرس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766560" y="2468880"/>
            <a:ext cx="4663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300" b="0">
                <a:solidFill>
                  <a:srgbClr val="D1D5DB"/>
                </a:solidFill>
                <a:latin typeface="Calibri"/>
              </a:defRPr>
            </a:pPr>
            <a:r>
              <a:t>  يتعرف الطالب على مكونات الخلية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766560" y="2788920"/>
            <a:ext cx="4663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300" b="0">
                <a:solidFill>
                  <a:srgbClr val="D1D5DB"/>
                </a:solidFill>
                <a:latin typeface="Calibri"/>
              </a:defRPr>
            </a:pPr>
            <a:r>
              <a:t>  يقارن بين الخلية النباتية والحيوانية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66560" y="3108960"/>
            <a:ext cx="4663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300" b="0">
                <a:solidFill>
                  <a:srgbClr val="D1D5DB"/>
                </a:solidFill>
                <a:latin typeface="Calibri"/>
              </a:defRPr>
            </a:pPr>
            <a:r>
              <a:t>  يفهم وظيفة كل مكون من مكونات الخلية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766560" y="3429000"/>
            <a:ext cx="4663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300" b="0">
                <a:solidFill>
                  <a:srgbClr val="D1D5DB"/>
                </a:solidFill>
                <a:latin typeface="Calibri"/>
              </a:defRPr>
            </a:pPr>
            <a:r>
              <a:t>  يربط بين تركيب الخلية ووظيفتها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400800" y="4389120"/>
            <a:ext cx="5303520" cy="1371600"/>
          </a:xfrm>
          <a:prstGeom prst="round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583680" y="448056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800" b="1">
                <a:solidFill>
                  <a:srgbClr val="8B5CF6"/>
                </a:solidFill>
                <a:latin typeface="Calibri"/>
              </a:defRPr>
            </a:pPr>
            <a:r>
              <a:t>للدكاترة والمدربين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766560" y="4846320"/>
            <a:ext cx="4663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300" b="0">
                <a:solidFill>
                  <a:srgbClr val="D1D5DB"/>
                </a:solidFill>
                <a:latin typeface="Calibri"/>
              </a:defRPr>
            </a:pPr>
            <a:r>
              <a:t>  قابل للتطوير لمستوى جامعي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766560" y="5166360"/>
            <a:ext cx="4663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300" b="0">
                <a:solidFill>
                  <a:srgbClr val="D1D5DB"/>
                </a:solidFill>
                <a:latin typeface="Calibri"/>
              </a:defRPr>
            </a:pPr>
            <a:r>
              <a:t>  مناسب لورشات تدريب المعلمين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57200" y="6126480"/>
            <a:ext cx="11277295" cy="12700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57200" y="621792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9CA3AF"/>
                </a:solidFill>
                <a:latin typeface="Calibri"/>
              </a:defRPr>
            </a:pPr>
            <a:r>
              <a:t>نواف البوسطه | كورس الذكاء الاصطناعي بالتعليم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943600" y="621792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CA3AF"/>
                </a:solidFill>
                <a:latin typeface="Calibri"/>
              </a:defRPr>
            </a:pPr>
            <a:r>
              <a:t>كل المحتوى من الكتاب المدرسي وموثق بأرقام الصفحات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515600" y="27432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CA3AF"/>
                </a:solidFill>
                <a:latin typeface="Calibri"/>
              </a:defRPr>
            </a:pPr>
            <a:r>
              <a:t>4 / 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300" b="1">
                <a:solidFill>
                  <a:srgbClr val="F59E0B"/>
                </a:solidFill>
                <a:latin typeface="Calibri"/>
              </a:defRPr>
            </a:pPr>
            <a:r>
              <a:t>مثال عملي - أدوات الذكاء الاصطناعي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229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3000" b="1">
                <a:solidFill>
                  <a:srgbClr val="F59E0B"/>
                </a:solidFill>
                <a:latin typeface="Calibri"/>
              </a:defRPr>
            </a:pPr>
            <a:r>
              <a:t>أسئلة تقييمية - اختبار سريع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600" b="0">
                <a:solidFill>
                  <a:srgbClr val="9CA3AF"/>
                </a:solidFill>
                <a:latin typeface="Calibri"/>
              </a:defRPr>
            </a:pPr>
            <a:r>
              <a:t>5 أسئلة متنوعة مع الإجابات النموذجية - جاهزة للطباعة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828800"/>
            <a:ext cx="11277295" cy="411480"/>
          </a:xfrm>
          <a:prstGeom prst="roundRect">
            <a:avLst/>
          </a:prstGeom>
          <a:solidFill>
            <a:srgbClr val="1A1A1A"/>
          </a:solidFill>
          <a:ln w="1270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874519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300" b="1">
                <a:solidFill>
                  <a:srgbClr val="8B5CF6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1874519"/>
            <a:ext cx="10332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ما هي المكونات الأساسية المشتركة بين الخلية النباتية والحيوانية؟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2267712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22C55E"/>
                </a:solidFill>
                <a:latin typeface="Calibri"/>
              </a:defRPr>
            </a:pPr>
            <a:r>
              <a:t>الغشاء الخلوي، السيتوبلازم، النواة (صفحة 42)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2788920"/>
            <a:ext cx="11277295" cy="411480"/>
          </a:xfrm>
          <a:prstGeom prst="roundRect">
            <a:avLst/>
          </a:prstGeom>
          <a:solidFill>
            <a:srgbClr val="1A1A1A"/>
          </a:solidFill>
          <a:ln w="1270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2834639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300" b="1">
                <a:solidFill>
                  <a:srgbClr val="8B5CF6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2834639"/>
            <a:ext cx="10332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ما وظيفة النواة في الخلية؟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3227832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22C55E"/>
                </a:solidFill>
                <a:latin typeface="Calibri"/>
              </a:defRPr>
            </a:pPr>
            <a:r>
              <a:t>تحتوي على الحمض النووي DNA وتتحكم بنشاطات الخلية وصفاتها (صفحة 44)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3749039"/>
            <a:ext cx="11277295" cy="411480"/>
          </a:xfrm>
          <a:prstGeom prst="roundRect">
            <a:avLst/>
          </a:prstGeom>
          <a:solidFill>
            <a:srgbClr val="1A1A1A"/>
          </a:solidFill>
          <a:ln w="1270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3794759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300" b="1">
                <a:solidFill>
                  <a:srgbClr val="8B5CF6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" y="3794759"/>
            <a:ext cx="10332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لماذا الخلية النباتية تعمل تركيب ضوئي والحيوانية لا؟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" y="4187952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22C55E"/>
                </a:solidFill>
                <a:latin typeface="Calibri"/>
              </a:defRPr>
            </a:pPr>
            <a:r>
              <a:t>لأنها تحتوي على البلاستيدات الخضراء التي تحتوي اليخضور (صفحة 49)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4709160"/>
            <a:ext cx="11277295" cy="411480"/>
          </a:xfrm>
          <a:prstGeom prst="roundRect">
            <a:avLst/>
          </a:prstGeom>
          <a:solidFill>
            <a:srgbClr val="1A1A1A"/>
          </a:solidFill>
          <a:ln w="1270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4754880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300" b="1">
                <a:solidFill>
                  <a:srgbClr val="8B5CF6"/>
                </a:solidFill>
                <a:latin typeface="Calibri"/>
              </a:defRPr>
            </a:pPr>
            <a: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" y="4754880"/>
            <a:ext cx="10332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ما الفرق بين الفجوة العصارية في الخلية النباتية والحيوانية؟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97280" y="5148072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22C55E"/>
                </a:solidFill>
                <a:latin typeface="Calibri"/>
              </a:defRPr>
            </a:pPr>
            <a:r>
              <a:t>النباتية: كبيرة ومركزية واحدة. الحيوانية: صغيرة ومتعددة (صفحة 50)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57200" y="5669280"/>
            <a:ext cx="11277295" cy="411480"/>
          </a:xfrm>
          <a:prstGeom prst="roundRect">
            <a:avLst/>
          </a:prstGeom>
          <a:solidFill>
            <a:srgbClr val="1A1A1A"/>
          </a:solidFill>
          <a:ln w="1270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" y="5715000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300" b="1">
                <a:solidFill>
                  <a:srgbClr val="8B5CF6"/>
                </a:solidFill>
                <a:latin typeface="Calibri"/>
              </a:defRPr>
            </a:pPr>
            <a:r>
              <a:t>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97280" y="5715000"/>
            <a:ext cx="10332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قارن بين الجدار الخلوي والغشاء الخلوي من حيث الموقع والوظيفة؟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97280" y="6108192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22C55E"/>
                </a:solidFill>
                <a:latin typeface="Calibri"/>
              </a:defRPr>
            </a:pPr>
            <a:r>
              <a:t>الجدار: خارجي في النبات فقط، دعم وحماية. الغشاء: ينظم دخول وخروج المواد (صفحة 43)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57200" y="5760720"/>
            <a:ext cx="11277295" cy="457200"/>
          </a:xfrm>
          <a:prstGeom prst="roundRect">
            <a:avLst/>
          </a:prstGeom>
          <a:solidFill>
            <a:srgbClr val="1A1A1A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0080" y="580644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D1D5DB"/>
                </a:solidFill>
                <a:latin typeface="Calibri"/>
              </a:defRPr>
            </a:pPr>
            <a:r>
              <a:t>ملاحظة: هالأسئلة تم إعدادها من الكتاب المدرسي فقط - كل إجابة مكتوب جنبها رقم الصفحة. فيك تطلب نسخة تانية بأسئلة مختلفة بنقرة واحدة!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7200" y="6126480"/>
            <a:ext cx="11277295" cy="12700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57200" y="621792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9CA3AF"/>
                </a:solidFill>
                <a:latin typeface="Calibri"/>
              </a:defRPr>
            </a:pPr>
            <a:r>
              <a:t>نواف البوسطه | كورس الذكاء الاصطناعي بالتعليم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943600" y="621792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CA3AF"/>
                </a:solidFill>
                <a:latin typeface="Calibri"/>
              </a:defRPr>
            </a:pPr>
            <a:r>
              <a:t>كل المحتوى من الكتاب المدرسي وموثق بأرقام الصفحات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515600" y="27432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CA3AF"/>
                </a:solidFill>
                <a:latin typeface="Calibri"/>
              </a:defRPr>
            </a:pPr>
            <a:r>
              <a:t>5 / 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300" b="1">
                <a:solidFill>
                  <a:srgbClr val="F59E0B"/>
                </a:solidFill>
                <a:latin typeface="Calibri"/>
              </a:defRPr>
            </a:pPr>
            <a:r>
              <a:t>مثال عملي - أدوات الذكاء الاصطناعي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2296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3000" b="1">
                <a:solidFill>
                  <a:srgbClr val="F59E0B"/>
                </a:solidFill>
                <a:latin typeface="Calibri"/>
              </a:defRPr>
            </a:pPr>
            <a:r>
              <a:t>خطة الدرس - تحضير كامل جاهز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600" b="0">
                <a:solidFill>
                  <a:srgbClr val="9CA3AF"/>
                </a:solidFill>
                <a:latin typeface="Calibri"/>
              </a:defRPr>
            </a:pPr>
            <a:r>
              <a:t>خطة درس منسقة ومكتملة - جاهزة للتقديم</a:t>
            </a:r>
          </a:p>
        </p:txBody>
      </p:sp>
      <p:sp>
        <p:nvSpPr>
          <p:cNvPr id="5" name="Oval 4"/>
          <p:cNvSpPr/>
          <p:nvPr/>
        </p:nvSpPr>
        <p:spPr>
          <a:xfrm>
            <a:off x="640080" y="1828800"/>
            <a:ext cx="365760" cy="365760"/>
          </a:xfrm>
          <a:prstGeom prst="ellipse">
            <a:avLst/>
          </a:prstGeom>
          <a:solidFill>
            <a:srgbClr val="1A1A1A"/>
          </a:solidFill>
          <a:ln w="254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59E0B"/>
                </a:solidFill>
              </a:defRPr>
            </a:pPr>
            <a: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178308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500" b="1">
                <a:solidFill>
                  <a:srgbClr val="FFFFFF"/>
                </a:solidFill>
                <a:latin typeface="Calibri"/>
              </a:defRPr>
            </a:pPr>
            <a:r>
              <a:t>التمهيد (5 دقائق)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20" y="210312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9CA3AF"/>
                </a:solidFill>
                <a:latin typeface="Calibri"/>
              </a:defRPr>
            </a:pPr>
            <a:r>
              <a:t>سؤال تحفيزي: "شو أصغر شي حي بالعالم؟" - ربط بالتجربة اليومية</a:t>
            </a:r>
          </a:p>
        </p:txBody>
      </p:sp>
      <p:sp>
        <p:nvSpPr>
          <p:cNvPr id="8" name="Oval 7"/>
          <p:cNvSpPr/>
          <p:nvPr/>
        </p:nvSpPr>
        <p:spPr>
          <a:xfrm>
            <a:off x="640080" y="2697480"/>
            <a:ext cx="365760" cy="365760"/>
          </a:xfrm>
          <a:prstGeom prst="ellipse">
            <a:avLst/>
          </a:prstGeom>
          <a:solidFill>
            <a:srgbClr val="1A1A1A"/>
          </a:solidFill>
          <a:ln w="254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59E0B"/>
                </a:solidFill>
              </a:defRPr>
            </a:pPr>
            <a: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0" y="265176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500" b="1">
                <a:solidFill>
                  <a:srgbClr val="FFFFFF"/>
                </a:solidFill>
                <a:latin typeface="Calibri"/>
              </a:defRPr>
            </a:pPr>
            <a:r>
              <a:t>الشرح (15 دقيقة)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297180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9CA3AF"/>
                </a:solidFill>
                <a:latin typeface="Calibri"/>
              </a:defRPr>
            </a:pPr>
            <a:r>
              <a:t>عرض مكونات الخلية (غشاء-سيتوبلازم-نواة) مع الرسم التوضيحي</a:t>
            </a:r>
          </a:p>
        </p:txBody>
      </p:sp>
      <p:sp>
        <p:nvSpPr>
          <p:cNvPr id="11" name="Oval 10"/>
          <p:cNvSpPr/>
          <p:nvPr/>
        </p:nvSpPr>
        <p:spPr>
          <a:xfrm>
            <a:off x="640080" y="3566160"/>
            <a:ext cx="365760" cy="365760"/>
          </a:xfrm>
          <a:prstGeom prst="ellipse">
            <a:avLst/>
          </a:prstGeom>
          <a:solidFill>
            <a:srgbClr val="1A1A1A"/>
          </a:solidFill>
          <a:ln w="254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59E0B"/>
                </a:solidFill>
              </a:defRPr>
            </a:pPr>
            <a: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8720" y="352044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500" b="1">
                <a:solidFill>
                  <a:srgbClr val="FFFFFF"/>
                </a:solidFill>
                <a:latin typeface="Calibri"/>
              </a:defRPr>
            </a:pPr>
            <a:r>
              <a:t>المقارنة (10 دقائق)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88720" y="384048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9CA3AF"/>
                </a:solidFill>
                <a:latin typeface="Calibri"/>
              </a:defRPr>
            </a:pPr>
            <a:r>
              <a:t>جدول مقارنة بين الخلية النباتية والحيوانية - عمل الطلاب</a:t>
            </a:r>
          </a:p>
        </p:txBody>
      </p:sp>
      <p:sp>
        <p:nvSpPr>
          <p:cNvPr id="14" name="Oval 13"/>
          <p:cNvSpPr/>
          <p:nvPr/>
        </p:nvSpPr>
        <p:spPr>
          <a:xfrm>
            <a:off x="640080" y="4434840"/>
            <a:ext cx="365760" cy="365760"/>
          </a:xfrm>
          <a:prstGeom prst="ellipse">
            <a:avLst/>
          </a:prstGeom>
          <a:solidFill>
            <a:srgbClr val="1A1A1A"/>
          </a:solidFill>
          <a:ln w="254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59E0B"/>
                </a:solidFill>
              </a:defRPr>
            </a:pPr>
            <a: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88720" y="438912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500" b="1">
                <a:solidFill>
                  <a:srgbClr val="FFFFFF"/>
                </a:solidFill>
                <a:latin typeface="Calibri"/>
              </a:defRPr>
            </a:pPr>
            <a:r>
              <a:t>التقييم (10 دقائق)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88720" y="4709159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9CA3AF"/>
                </a:solidFill>
                <a:latin typeface="Calibri"/>
              </a:defRPr>
            </a:pPr>
            <a:r>
              <a:t>5 أسئلة تقييمية متنوعة مع التصحيح الفوري</a:t>
            </a:r>
          </a:p>
        </p:txBody>
      </p:sp>
      <p:sp>
        <p:nvSpPr>
          <p:cNvPr id="17" name="Oval 16"/>
          <p:cNvSpPr/>
          <p:nvPr/>
        </p:nvSpPr>
        <p:spPr>
          <a:xfrm>
            <a:off x="640080" y="5303520"/>
            <a:ext cx="365760" cy="365760"/>
          </a:xfrm>
          <a:prstGeom prst="ellipse">
            <a:avLst/>
          </a:prstGeom>
          <a:solidFill>
            <a:srgbClr val="1A1A1A"/>
          </a:solidFill>
          <a:ln w="254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59E0B"/>
                </a:solidFill>
              </a:defRPr>
            </a:pPr>
            <a:r>
              <a:t>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88720" y="525780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500" b="1">
                <a:solidFill>
                  <a:srgbClr val="FFFFFF"/>
                </a:solidFill>
                <a:latin typeface="Calibri"/>
              </a:defRPr>
            </a:pPr>
            <a:r>
              <a:t>الواجب المنزلي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88720" y="557784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9CA3AF"/>
                </a:solidFill>
                <a:latin typeface="Calibri"/>
              </a:defRPr>
            </a:pPr>
            <a:r>
              <a:t>رسم خلية نباتية مع تسمية المكونات + سؤال بحثي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0" y="1828800"/>
            <a:ext cx="5303520" cy="1371600"/>
          </a:xfrm>
          <a:prstGeom prst="round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83680" y="192024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600" b="1">
                <a:solidFill>
                  <a:srgbClr val="F59E0B"/>
                </a:solidFill>
                <a:latin typeface="Calibri"/>
              </a:defRPr>
            </a:pPr>
            <a:r>
              <a:t>بيانات الدرس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766560" y="237744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9CA3AF"/>
                </a:solidFill>
                <a:latin typeface="Calibri"/>
              </a:defRPr>
            </a:pPr>
            <a:r>
              <a:t>المادة: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680960" y="237744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علوم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35440" y="237744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9CA3AF"/>
                </a:solidFill>
                <a:latin typeface="Calibri"/>
              </a:defRPr>
            </a:pPr>
            <a:r>
              <a:t>الصف: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149840" y="237744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السابع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766560" y="274320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9CA3AF"/>
                </a:solidFill>
                <a:latin typeface="Calibri"/>
              </a:defRPr>
            </a:pPr>
            <a:r>
              <a:t>المدة: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680960" y="27432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45 دقيقة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235440" y="274320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9CA3AF"/>
                </a:solidFill>
                <a:latin typeface="Calibri"/>
              </a:defRPr>
            </a:pPr>
            <a:r>
              <a:t>المرجع: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149840" y="27432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ص 42-50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400800" y="3383280"/>
            <a:ext cx="5303520" cy="1371600"/>
          </a:xfrm>
          <a:prstGeom prst="round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583680" y="347472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600" b="1">
                <a:solidFill>
                  <a:srgbClr val="22C55E"/>
                </a:solidFill>
                <a:latin typeface="Calibri"/>
              </a:defRPr>
            </a:pPr>
            <a:r>
              <a:t>الأهداف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766560" y="3931920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D1D5DB"/>
                </a:solidFill>
                <a:latin typeface="Calibri"/>
              </a:defRPr>
            </a:pPr>
            <a:r>
              <a:t>  أن يتعرف الطالب على مكونات الخلية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766560" y="4206240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D1D5DB"/>
                </a:solidFill>
                <a:latin typeface="Calibri"/>
              </a:defRPr>
            </a:pPr>
            <a:r>
              <a:t>  أن يقارن بين نوعي الخلايا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766560" y="4480559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D1D5DB"/>
                </a:solidFill>
                <a:latin typeface="Calibri"/>
              </a:defRPr>
            </a:pPr>
            <a:r>
              <a:t>  أن يربط بين التركيب والوظيفة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400800" y="4937760"/>
            <a:ext cx="5303520" cy="1097280"/>
          </a:xfrm>
          <a:prstGeom prst="roundRect">
            <a:avLst/>
          </a:prstGeom>
          <a:solidFill>
            <a:srgbClr val="1A1A1A"/>
          </a:solidFill>
          <a:ln w="1270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583680" y="502920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600" b="1">
                <a:solidFill>
                  <a:srgbClr val="22C55E"/>
                </a:solidFill>
                <a:latin typeface="Calibri"/>
              </a:defRPr>
            </a:pPr>
            <a:r>
              <a:t>كل هذا تم إعداده بـ 5 دقائق!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583680" y="5394960"/>
            <a:ext cx="4846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D1D5DB"/>
                </a:solidFill>
                <a:latin typeface="Calibri"/>
              </a:defRPr>
            </a:pPr>
            <a:r>
              <a:t>بدل ساعتين تحضير، فيك تعمل خطة درس كاملة + أسئلة + ملخص + ملف PDF جاهز للطباعة. هاد اللي رح تتعلمه بالكورس.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57200" y="6126480"/>
            <a:ext cx="11277295" cy="12700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57200" y="621792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9CA3AF"/>
                </a:solidFill>
                <a:latin typeface="Calibri"/>
              </a:defRPr>
            </a:pPr>
            <a:r>
              <a:t>نواف البوسطه | كورس الذكاء الاصطناعي بالتعليم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943600" y="621792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CA3AF"/>
                </a:solidFill>
                <a:latin typeface="Calibri"/>
              </a:defRPr>
            </a:pPr>
            <a:r>
              <a:t>كل المحتوى من الكتاب المدرسي وموثق بأرقام الصفحات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515600" y="27432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CA3AF"/>
                </a:solidFill>
                <a:latin typeface="Calibri"/>
              </a:defRPr>
            </a:pPr>
            <a:r>
              <a:t>6 / 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